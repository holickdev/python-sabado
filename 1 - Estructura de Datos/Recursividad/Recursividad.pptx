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259" r:id="rId3"/>
    <p:sldId id="260" r:id="rId4"/>
    <p:sldId id="26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8" r:id="rId21"/>
    <p:sldId id="347" r:id="rId22"/>
    <p:sldId id="312" r:id="rId23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D2"/>
    <a:srgbClr val="1624D4"/>
    <a:srgbClr val="9900FF"/>
    <a:srgbClr val="FF3FE8"/>
    <a:srgbClr val="FFDA5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Estilo medio 2 - Énfasis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Estilo medio 1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28" autoAdjust="0"/>
    <p:restoredTop sz="85053" autoAdjust="0"/>
  </p:normalViewPr>
  <p:slideViewPr>
    <p:cSldViewPr snapToGrid="0">
      <p:cViewPr varScale="1">
        <p:scale>
          <a:sx n="70" d="100"/>
          <a:sy n="70" d="100"/>
        </p:scale>
        <p:origin x="84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B48D2E-6115-4FB5-B92C-79D9A638DB5B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419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419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CC28B0-2065-4A5F-8417-EAEFB0072195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476956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CC28B0-2065-4A5F-8417-EAEFB0072195}" type="slidenum">
              <a:rPr lang="es-419" smtClean="0"/>
              <a:t>17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66883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B8119-5C72-762C-8A19-E908D9B41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A837879-82B1-8E95-BDB0-B62FEE5024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3D96E52-0DF5-767C-3FAB-EB4C510F3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AA66F65-E80E-580B-01ED-A4EE0E6A4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968EC2-AB1C-107D-7DBA-C76E31BDF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2613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5F0DA4-FE95-9E57-B3C8-791E7679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CEDA7CA-4A93-AE17-8EFF-18A02D3E8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AFD6B2D-D8DB-C7F4-D9D9-248CD905F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A91AAB-244F-FECC-C911-279B547253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AD41BEC-FF5E-7017-0D95-7318FEFD6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235100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FB1DD1-EC24-DE8F-5BA9-FC57C7CBB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D193F61-34B3-4FF3-1B85-339947D5B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A55B5D-B4D7-812B-2F70-098FEB73F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481368-F829-E5BF-580F-C6F0EAB3C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8E6CA7-231B-1BCA-E6CF-C9AB455DF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951499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F0F189-4EF6-D32C-1D79-0DAA38EA5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5F8B16-48F8-C087-A174-E3BA433755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A57BB08-6FA0-0A5D-492B-1138B8E6E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30973A4-10D0-DC1A-7E6B-BFCC9243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9A486F-09A5-5673-717E-2FB0EBF61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95D522-2643-5696-2FD9-47BE5CE05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540346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81A511-23DD-57FF-3321-939439D7B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E183B5-E016-96E9-9271-CE551BB287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BEA617E-1F68-A63A-F8AE-1321AF09D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C052EF-E6BA-322B-4693-59C727243F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E71FEC1-F494-6BF7-EE1C-6AAE158CC3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78355E9-C324-99B2-243F-B7A31C4F0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20ABE50-D95B-CC63-4A06-4E4C449F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D70B20F-A796-BDA0-9481-6925CD857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063442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B7D3E7-03A3-E9DB-C33C-4E9A8E7A7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8E2266-1239-0AB2-242E-53D80FA7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64B6779-0127-04A7-32A4-C803EF36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52D108F-F215-B301-3EAA-4F0D23B6B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741907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292145B-A132-5F1A-7F7F-B5FB27A96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68DA8D-625B-89A3-B7B1-50A47BB83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CA49EB-B7E2-C7F0-0AC2-D4426E765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316594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60A5F8-A4B3-D381-D7B7-5D9AA7D99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4983E0-C732-F5D9-788A-700435DF7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AF7D395-F2EC-4736-1385-DB49D3E8E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71686A-327D-4702-3A2C-D28DC82DA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E60F9F1-8E4D-82DD-EC06-0F7BCC490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1A209F-BEF6-4719-389B-9F477A50D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04145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B9385-F814-24B1-08CA-14436A8A0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82B86F3-9C64-5154-CFB5-556548A417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21A1A7-2C46-B3EE-FB21-6522D6DD53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81A31ED-FFD4-3A43-9F25-5072DAB44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479C97-229A-550C-A2BC-8ACD6CC5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D65FB4A-0447-EE3B-CECB-BBD3D42E6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65089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D749FD-0F56-0B4B-C6F9-B8A75102D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4921D0-F564-658B-AF24-678376FDA3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473C4D-E5F3-E117-1B96-AFE20A7FA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3D9F84-A922-CB6F-C99B-AB5E315E0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B9A8F5-B42E-FC47-197D-F73882275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83350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631FC6-6593-AF88-C69B-D59DAC7C01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DC292A7-14BF-3D32-FDA3-8FA9FA976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7F292C-2D19-553C-DE6D-68C8F177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4D2794-0C2F-517A-4FE1-87E5B5D71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A7B4C7A-E67F-99BC-B854-62FCB7754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23045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57B2143-756C-32D2-56F1-58CE2DF81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601976-1C47-41FD-5C52-731367644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D94DE6-D5E4-88B5-CF5C-09E32093F9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3C837F-9100-490F-9497-39E9ECEB3D16}" type="datetimeFigureOut">
              <a:rPr lang="es-419" smtClean="0"/>
              <a:t>7/2/2026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DC80156-3149-C71C-A417-5D1ED85456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5EBF71F-A606-9D09-FBC2-889416F60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6A4B57-C18D-40A7-9751-FFBCE2C51036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97978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99" y="151651"/>
            <a:ext cx="2160000" cy="21600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319F800A-004D-EFDA-24FF-18E34C9853D0}"/>
              </a:ext>
            </a:extLst>
          </p:cNvPr>
          <p:cNvSpPr txBox="1"/>
          <p:nvPr/>
        </p:nvSpPr>
        <p:spPr>
          <a:xfrm>
            <a:off x="498000" y="2343640"/>
            <a:ext cx="11196000" cy="209288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419" sz="5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Programación Avanzada</a:t>
            </a:r>
          </a:p>
          <a:p>
            <a:pPr algn="ctr"/>
            <a:r>
              <a:rPr lang="es-419" sz="8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Recursividad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6054369" y="-3806694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rgbClr val="0021D2"/>
              </a:solidFill>
            </a:endParaRPr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8174769" y="4871570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srgbClr val="0021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9904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6DE6985-6A49-501F-1C32-16C8A01FA668}"/>
              </a:ext>
            </a:extLst>
          </p:cNvPr>
          <p:cNvSpPr txBox="1"/>
          <p:nvPr/>
        </p:nvSpPr>
        <p:spPr>
          <a:xfrm>
            <a:off x="1650635" y="2353234"/>
            <a:ext cx="88907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La Programación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7753" y="161865"/>
            <a:ext cx="2160000" cy="216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11360602" y="-3809384"/>
            <a:ext cx="28541536" cy="9665431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13111231" y="1301559"/>
            <a:ext cx="28541536" cy="9298914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E8ED7F-10B7-E42E-49F9-6D5943D9F812}"/>
              </a:ext>
            </a:extLst>
          </p:cNvPr>
          <p:cNvSpPr txBox="1"/>
          <p:nvPr/>
        </p:nvSpPr>
        <p:spPr>
          <a:xfrm>
            <a:off x="497999" y="2767281"/>
            <a:ext cx="11196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419" sz="8000" b="1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Recursividad</a:t>
            </a:r>
          </a:p>
        </p:txBody>
      </p:sp>
    </p:spTree>
    <p:extLst>
      <p:ext uri="{BB962C8B-B14F-4D97-AF65-F5344CB8AC3E}">
        <p14:creationId xmlns:p14="http://schemas.microsoft.com/office/powerpoint/2010/main" val="2073731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11464289" y="-3806775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13199384" y="4991941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19F800A-004D-EFDA-24FF-18E34C9853D0}"/>
              </a:ext>
            </a:extLst>
          </p:cNvPr>
          <p:cNvSpPr txBox="1"/>
          <p:nvPr/>
        </p:nvSpPr>
        <p:spPr>
          <a:xfrm>
            <a:off x="3562873" y="2544251"/>
            <a:ext cx="490820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8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¿Qué es?</a:t>
            </a:r>
          </a:p>
        </p:txBody>
      </p:sp>
    </p:spTree>
    <p:extLst>
      <p:ext uri="{BB962C8B-B14F-4D97-AF65-F5344CB8AC3E}">
        <p14:creationId xmlns:p14="http://schemas.microsoft.com/office/powerpoint/2010/main" val="903941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08AA114-8043-0A39-0188-988769FA549A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AFE1E83-FC2A-AB5C-7E7B-89A89F1918F4}"/>
              </a:ext>
            </a:extLst>
          </p:cNvPr>
          <p:cNvSpPr txBox="1"/>
          <p:nvPr/>
        </p:nvSpPr>
        <p:spPr>
          <a:xfrm>
            <a:off x="869244" y="2404931"/>
            <a:ext cx="10782756" cy="33109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Técnica con la que repetimos un proceso una determinada cantidad de veces sin usar bucles. Se realiza mediante una función que se llama a sí misma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8A544BB-6E9F-3019-F313-C5322A5E61B9}"/>
              </a:ext>
            </a:extLst>
          </p:cNvPr>
          <p:cNvSpPr txBox="1"/>
          <p:nvPr/>
        </p:nvSpPr>
        <p:spPr>
          <a:xfrm>
            <a:off x="540000" y="1389268"/>
            <a:ext cx="587935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¿Qué es?</a:t>
            </a:r>
          </a:p>
        </p:txBody>
      </p:sp>
    </p:spTree>
    <p:extLst>
      <p:ext uri="{BB962C8B-B14F-4D97-AF65-F5344CB8AC3E}">
        <p14:creationId xmlns:p14="http://schemas.microsoft.com/office/powerpoint/2010/main" val="1047241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C899-827A-A739-C187-878DA8BD6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6AB49CA-24B6-67DF-BE9F-141CEB5C3F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C02CDFD-5C73-BC3E-512E-47B2B9A81467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3B007FE7-4FED-3A51-2AD3-56D365804B26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BEFF8DD-CF12-D1F5-F103-BF69D8A0CB3B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56436E2-97C0-FA29-B7F0-C8A56628D9CE}"/>
              </a:ext>
            </a:extLst>
          </p:cNvPr>
          <p:cNvSpPr txBox="1"/>
          <p:nvPr/>
        </p:nvSpPr>
        <p:spPr>
          <a:xfrm>
            <a:off x="869244" y="2825099"/>
            <a:ext cx="10782756" cy="247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Son funciones cuyo contenido tiene una llamada a si misma, esto con el objetivo de repetir una acción varias veces.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28739E6-27B5-C163-6E60-3816709AFC98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Funciones Recursivas</a:t>
            </a:r>
          </a:p>
        </p:txBody>
      </p:sp>
    </p:spTree>
    <p:extLst>
      <p:ext uri="{BB962C8B-B14F-4D97-AF65-F5344CB8AC3E}">
        <p14:creationId xmlns:p14="http://schemas.microsoft.com/office/powerpoint/2010/main" val="2131885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3EA43-9D09-94DF-0F39-D7C644801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8AAF76B-921C-9A3C-9ABD-43D69FDD15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BE6CACE2-EBC0-91F1-AE39-CDAF7513BC4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54FBD69D-6CD8-1121-F87C-1973E933E866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B030214-B0DE-8A04-02EA-49CB093E807E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85D600-68D9-C774-D841-A89A2E8BFEF7}"/>
              </a:ext>
            </a:extLst>
          </p:cNvPr>
          <p:cNvSpPr txBox="1"/>
          <p:nvPr/>
        </p:nvSpPr>
        <p:spPr>
          <a:xfrm>
            <a:off x="539999" y="2825099"/>
            <a:ext cx="10782756" cy="24799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Los bucles convencionales muchas veces tienden a ser largos y complejos, mientras que la recursividad es simple y elegante.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47E7710-BA80-1C10-9EE6-1F3551721809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¿Por qué no bucles?</a:t>
            </a:r>
          </a:p>
        </p:txBody>
      </p:sp>
    </p:spTree>
    <p:extLst>
      <p:ext uri="{BB962C8B-B14F-4D97-AF65-F5344CB8AC3E}">
        <p14:creationId xmlns:p14="http://schemas.microsoft.com/office/powerpoint/2010/main" val="26782789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E74EE-8AE3-92DB-9CF9-67A66D04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1747BE6-F10F-3CDD-29B1-5E81817282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8752CC9D-B613-0826-3F8C-2E186469CCD8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BDD8E057-EEB5-61EE-BC90-7C01BBBAB73E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C8A1FD5-C32A-1686-499D-22CC9350EF7D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3CEDCD-19DE-03AC-1DE5-CEAF74E15E53}"/>
              </a:ext>
            </a:extLst>
          </p:cNvPr>
          <p:cNvSpPr txBox="1"/>
          <p:nvPr/>
        </p:nvSpPr>
        <p:spPr>
          <a:xfrm>
            <a:off x="539999" y="3049927"/>
            <a:ext cx="10782756" cy="16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600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En programación, mientras menos se tenga que leer, mejor.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75C04B3-0C87-9C15-5E6F-F02D4F28D56C}"/>
              </a:ext>
            </a:extLst>
          </p:cNvPr>
          <p:cNvSpPr txBox="1"/>
          <p:nvPr/>
        </p:nvSpPr>
        <p:spPr>
          <a:xfrm>
            <a:off x="539999" y="1389268"/>
            <a:ext cx="804882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60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¿Por qué no bucles?</a:t>
            </a:r>
          </a:p>
        </p:txBody>
      </p:sp>
    </p:spTree>
    <p:extLst>
      <p:ext uri="{BB962C8B-B14F-4D97-AF65-F5344CB8AC3E}">
        <p14:creationId xmlns:p14="http://schemas.microsoft.com/office/powerpoint/2010/main" val="20758003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D950F-1EB1-80A2-7793-09BD4D597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3AF21B4-CD17-39B9-C570-6884228A3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D9D37DD7-4968-FA4E-8480-5AC467140F93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ACCAA1BF-B93F-5AB1-E363-6CF746121B63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3E407E00-020E-D678-8C80-A715CDA793C0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986AADD-16E0-17C2-FD12-D77F48306C1B}"/>
              </a:ext>
            </a:extLst>
          </p:cNvPr>
          <p:cNvSpPr txBox="1"/>
          <p:nvPr/>
        </p:nvSpPr>
        <p:spPr>
          <a:xfrm>
            <a:off x="2803271" y="2163500"/>
            <a:ext cx="6669644" cy="37065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miFunciónRecursiva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deberíaDetenerse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32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3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32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32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3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miFuncionRecursiva</a:t>
            </a:r>
            <a:r>
              <a:rPr lang="es-419" sz="3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()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2E2F397-A912-EAC7-152B-60B41BA5EEA4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Funciones recursivas</a:t>
            </a:r>
          </a:p>
        </p:txBody>
      </p:sp>
    </p:spTree>
    <p:extLst>
      <p:ext uri="{BB962C8B-B14F-4D97-AF65-F5344CB8AC3E}">
        <p14:creationId xmlns:p14="http://schemas.microsoft.com/office/powerpoint/2010/main" val="9848019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D7137-7D0A-65DB-7418-36E2B85C7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AA340E7-5552-D11F-92ED-F4B7F8D587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5C8E1C76-F70C-353C-CD6C-08C59DDBA530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F012E8E3-59BD-369D-752E-692D35B03D70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79BE9CA8-852E-FB2A-5145-0632C6B10094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C1CCDA-4F57-AD71-F097-D5CFC3A98EF3}"/>
              </a:ext>
            </a:extLst>
          </p:cNvPr>
          <p:cNvSpPr txBox="1"/>
          <p:nvPr/>
        </p:nvSpPr>
        <p:spPr>
          <a:xfrm>
            <a:off x="2803271" y="2163500"/>
            <a:ext cx="6669644" cy="3901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2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&gt;5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1</a:t>
            </a:r>
          </a:p>
          <a:p>
            <a:pPr algn="just"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print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8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8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endParaRPr lang="es-419" sz="28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900394-5DF6-153C-A2D0-B0060357CCAF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Funciones recursivas</a:t>
            </a:r>
          </a:p>
        </p:txBody>
      </p:sp>
    </p:spTree>
    <p:extLst>
      <p:ext uri="{BB962C8B-B14F-4D97-AF65-F5344CB8AC3E}">
        <p14:creationId xmlns:p14="http://schemas.microsoft.com/office/powerpoint/2010/main" val="1943380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62D1E3-0CE8-0601-BEC2-4CE0D6E1AB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5D5362E-9BC9-6C2C-2967-E221094A84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3A22EB5-8705-AB0C-51A9-BC56F7A1C775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B53D0932-FFE3-59D2-D057-99F0413DFDC9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0DAFECA1-266B-FDFD-87B5-0952A3FC961A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846A5D-0F56-9318-47DF-75DA37CB5403}"/>
              </a:ext>
            </a:extLst>
          </p:cNvPr>
          <p:cNvSpPr txBox="1"/>
          <p:nvPr/>
        </p:nvSpPr>
        <p:spPr>
          <a:xfrm>
            <a:off x="539999" y="2195911"/>
            <a:ext cx="11390744" cy="335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4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&gt;5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 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#num nunca va alcanzar el valor de 5, siempre es uno</a:t>
            </a:r>
            <a:endParaRPr lang="es-419" sz="2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1</a:t>
            </a:r>
          </a:p>
          <a:p>
            <a:pPr algn="just"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print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4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4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endParaRPr lang="es-419" sz="24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5D58EF7-33CE-B449-84D4-9A2AEB4E7B3E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Funciones recursivas</a:t>
            </a:r>
          </a:p>
        </p:txBody>
      </p:sp>
    </p:spTree>
    <p:extLst>
      <p:ext uri="{BB962C8B-B14F-4D97-AF65-F5344CB8AC3E}">
        <p14:creationId xmlns:p14="http://schemas.microsoft.com/office/powerpoint/2010/main" val="4175118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C1C28-8A76-7D16-E333-C35FE549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C21AF4-1EB0-B52F-EFB1-6D65BA6996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AA16D5F3-FC18-7020-9C3F-7E53A0E31CD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77ADF4AB-858F-6084-6FEA-B83638850B81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8399285-77D1-5D16-351B-D8CF41460B04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C99BF9-61EC-7514-8131-96915949B819}"/>
              </a:ext>
            </a:extLst>
          </p:cNvPr>
          <p:cNvSpPr txBox="1"/>
          <p:nvPr/>
        </p:nvSpPr>
        <p:spPr>
          <a:xfrm>
            <a:off x="539999" y="2111723"/>
            <a:ext cx="4663372" cy="37518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23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3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&gt;5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endParaRPr lang="es-419" sz="23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3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3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1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3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print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3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= 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3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+ 1</a:t>
            </a:r>
            <a:endParaRPr lang="es-419" sz="23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3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endParaRPr lang="es-419" sz="23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86E290-E30D-F89D-7898-A0DCE2432B78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Funciones recursivas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801710-0F76-367F-F01A-2D659242FF35}"/>
              </a:ext>
            </a:extLst>
          </p:cNvPr>
          <p:cNvSpPr txBox="1"/>
          <p:nvPr/>
        </p:nvSpPr>
        <p:spPr>
          <a:xfrm>
            <a:off x="6267258" y="2111722"/>
            <a:ext cx="4663372" cy="32209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s-419" sz="23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3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n-US" sz="23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&gt;5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endParaRPr lang="es-419" sz="23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3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3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1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3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3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print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3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 algn="just">
              <a:lnSpc>
                <a:spcPct val="150000"/>
              </a:lnSpc>
            </a:pP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3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3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num+1</a:t>
            </a:r>
            <a:r>
              <a:rPr lang="es-419" sz="23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3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endParaRPr lang="es-419" sz="23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3311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F665A-E4BC-4ACA-2477-F1824E96A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0630F9F-D182-CB31-FCF7-8C7B17A15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7FFF5E2-A71F-233D-E7D0-516CA20B4F51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C00BE67C-9372-1284-8D53-7B07970D929F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8CF604E-6B46-5B62-A65B-BA0C674E2A48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18B6C2D-B42E-E988-B21B-6805C1B12EF9}"/>
              </a:ext>
            </a:extLst>
          </p:cNvPr>
          <p:cNvGrpSpPr/>
          <p:nvPr/>
        </p:nvGrpSpPr>
        <p:grpSpPr>
          <a:xfrm>
            <a:off x="442025" y="1519900"/>
            <a:ext cx="4663372" cy="3962989"/>
            <a:chOff x="539999" y="1389268"/>
            <a:chExt cx="4663372" cy="3962989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92A2C3AE-6CD1-6223-4A17-7376D0DB4F5B}"/>
                </a:ext>
              </a:extLst>
            </p:cNvPr>
            <p:cNvSpPr txBox="1"/>
            <p:nvPr/>
          </p:nvSpPr>
          <p:spPr>
            <a:xfrm>
              <a:off x="539999" y="1389268"/>
              <a:ext cx="42497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800" b="1" dirty="0">
                  <a:solidFill>
                    <a:srgbClr val="0021D2"/>
                  </a:solidFill>
                  <a:latin typeface="Century Gothic" panose="020B0502020202020204" pitchFamily="34" charset="0"/>
                  <a:ea typeface="Power Red and Green" panose="01000000000000000000" pitchFamily="2" charset="0"/>
                </a:rPr>
                <a:t>Recursividad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70A2E4B7-A7C3-EAE3-1293-B827A828AA8C}"/>
                </a:ext>
              </a:extLst>
            </p:cNvPr>
            <p:cNvSpPr txBox="1"/>
            <p:nvPr/>
          </p:nvSpPr>
          <p:spPr>
            <a:xfrm>
              <a:off x="539999" y="2131311"/>
              <a:ext cx="4663372" cy="32209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419" sz="2300" dirty="0" err="1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def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n-US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&gt; 5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  <a:endParaRPr lang="es-419" sz="2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 err="1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return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1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else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print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num+1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C0FA075B-4948-D6C6-940D-22A0E38F3657}"/>
              </a:ext>
            </a:extLst>
          </p:cNvPr>
          <p:cNvGrpSpPr/>
          <p:nvPr/>
        </p:nvGrpSpPr>
        <p:grpSpPr>
          <a:xfrm>
            <a:off x="6932924" y="1519900"/>
            <a:ext cx="4663372" cy="2370246"/>
            <a:chOff x="539999" y="1389268"/>
            <a:chExt cx="4663372" cy="2370246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1775B327-70B9-8E56-BBCB-EA1E2E455FF8}"/>
                </a:ext>
              </a:extLst>
            </p:cNvPr>
            <p:cNvSpPr txBox="1"/>
            <p:nvPr/>
          </p:nvSpPr>
          <p:spPr>
            <a:xfrm>
              <a:off x="539999" y="1389268"/>
              <a:ext cx="42497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800" b="1" dirty="0">
                  <a:solidFill>
                    <a:srgbClr val="0021D2"/>
                  </a:solidFill>
                  <a:latin typeface="Century Gothic" panose="020B0502020202020204" pitchFamily="34" charset="0"/>
                  <a:ea typeface="Power Red and Green" panose="01000000000000000000" pitchFamily="2" charset="0"/>
                </a:rPr>
                <a:t>Bucles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997508A2-C00E-8B0C-8542-03902D6CD731}"/>
                </a:ext>
              </a:extLst>
            </p:cNvPr>
            <p:cNvSpPr txBox="1"/>
            <p:nvPr/>
          </p:nvSpPr>
          <p:spPr>
            <a:xfrm>
              <a:off x="539999" y="2131311"/>
              <a:ext cx="4663372" cy="162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419" sz="2300" dirty="0" err="1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def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for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in 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range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n-US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  <a:endParaRPr lang="es-419" sz="2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print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1211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0091-76BD-DD8C-E1C5-3D889F71F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8FCB6E40-E625-6622-1C02-C2B3CB28B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CCE13067-0425-64CA-3B79-3FB4774644FF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7ADD45C2-35B8-9232-7A74-164092BAABF8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DB79D2-6B41-5B9F-E7AC-89C19D29906E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269F1BCA-6B6A-4F83-74F4-0918637AF347}"/>
              </a:ext>
            </a:extLst>
          </p:cNvPr>
          <p:cNvGrpSpPr/>
          <p:nvPr/>
        </p:nvGrpSpPr>
        <p:grpSpPr>
          <a:xfrm>
            <a:off x="442025" y="1519900"/>
            <a:ext cx="4663372" cy="2901160"/>
            <a:chOff x="539999" y="1389268"/>
            <a:chExt cx="4663372" cy="2901160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95ADF309-937E-EC85-3E0D-B951890B29D9}"/>
                </a:ext>
              </a:extLst>
            </p:cNvPr>
            <p:cNvSpPr txBox="1"/>
            <p:nvPr/>
          </p:nvSpPr>
          <p:spPr>
            <a:xfrm>
              <a:off x="539999" y="1389268"/>
              <a:ext cx="42497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800" b="1" dirty="0">
                  <a:solidFill>
                    <a:srgbClr val="0021D2"/>
                  </a:solidFill>
                  <a:latin typeface="Century Gothic" panose="020B0502020202020204" pitchFamily="34" charset="0"/>
                  <a:ea typeface="Power Red and Green" panose="01000000000000000000" pitchFamily="2" charset="0"/>
                </a:rPr>
                <a:t>Recursividad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0F88206F-CC20-89C2-78A9-0889AA130084}"/>
                </a:ext>
              </a:extLst>
            </p:cNvPr>
            <p:cNvSpPr txBox="1"/>
            <p:nvPr/>
          </p:nvSpPr>
          <p:spPr>
            <a:xfrm>
              <a:off x="539999" y="2131311"/>
              <a:ext cx="4663372" cy="2159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419" sz="2300" dirty="0" err="1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def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n-US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&lt; 5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  <a:endParaRPr lang="es-419" sz="2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print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num+1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5C94CACE-85F4-D11E-45D1-5C6DCD4ED9B3}"/>
              </a:ext>
            </a:extLst>
          </p:cNvPr>
          <p:cNvGrpSpPr/>
          <p:nvPr/>
        </p:nvGrpSpPr>
        <p:grpSpPr>
          <a:xfrm>
            <a:off x="6932924" y="1519900"/>
            <a:ext cx="4663372" cy="2370246"/>
            <a:chOff x="539999" y="1389268"/>
            <a:chExt cx="4663372" cy="2370246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20C7B071-D50D-EEAA-81F1-E0B428E7FCBF}"/>
                </a:ext>
              </a:extLst>
            </p:cNvPr>
            <p:cNvSpPr txBox="1"/>
            <p:nvPr/>
          </p:nvSpPr>
          <p:spPr>
            <a:xfrm>
              <a:off x="539999" y="1389268"/>
              <a:ext cx="42497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800" b="1" dirty="0">
                  <a:solidFill>
                    <a:srgbClr val="0021D2"/>
                  </a:solidFill>
                  <a:latin typeface="Century Gothic" panose="020B0502020202020204" pitchFamily="34" charset="0"/>
                  <a:ea typeface="Power Red and Green" panose="01000000000000000000" pitchFamily="2" charset="0"/>
                </a:rPr>
                <a:t>Bucles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A4A773EA-DA76-0A13-F29A-679B3321B945}"/>
                </a:ext>
              </a:extLst>
            </p:cNvPr>
            <p:cNvSpPr txBox="1"/>
            <p:nvPr/>
          </p:nvSpPr>
          <p:spPr>
            <a:xfrm>
              <a:off x="539999" y="2131311"/>
              <a:ext cx="4663372" cy="162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419" sz="2300" dirty="0" err="1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def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for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in 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range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n-US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  <a:endParaRPr lang="es-419" sz="2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print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05215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EDD1F-40D6-A8E2-FD98-DEA466509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53F657C-AC33-9CB8-122A-9A2BDDC15E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B886533-3E29-39D5-6600-74E96C472CE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C438787E-F24C-7AF2-FAA9-0657E2646262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699F748-FB64-4B66-5C57-46657747762B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122647DD-BD25-0FDB-981B-209076CB0C68}"/>
              </a:ext>
            </a:extLst>
          </p:cNvPr>
          <p:cNvGrpSpPr/>
          <p:nvPr/>
        </p:nvGrpSpPr>
        <p:grpSpPr>
          <a:xfrm>
            <a:off x="442025" y="1519900"/>
            <a:ext cx="4663372" cy="2901160"/>
            <a:chOff x="539999" y="1389268"/>
            <a:chExt cx="4663372" cy="2901160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7A6B0A98-2529-B826-2ABA-4F44254F6FA2}"/>
                </a:ext>
              </a:extLst>
            </p:cNvPr>
            <p:cNvSpPr txBox="1"/>
            <p:nvPr/>
          </p:nvSpPr>
          <p:spPr>
            <a:xfrm>
              <a:off x="539999" y="1389268"/>
              <a:ext cx="42497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800" b="1" dirty="0">
                  <a:solidFill>
                    <a:srgbClr val="0021D2"/>
                  </a:solidFill>
                  <a:latin typeface="Century Gothic" panose="020B0502020202020204" pitchFamily="34" charset="0"/>
                  <a:ea typeface="Power Red and Green" panose="01000000000000000000" pitchFamily="2" charset="0"/>
                </a:rPr>
                <a:t>Recursividad</a:t>
              </a:r>
            </a:p>
          </p:txBody>
        </p:sp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A6404B9-AC25-595C-BA89-FE5EAF9A4A51}"/>
                </a:ext>
              </a:extLst>
            </p:cNvPr>
            <p:cNvSpPr txBox="1"/>
            <p:nvPr/>
          </p:nvSpPr>
          <p:spPr>
            <a:xfrm>
              <a:off x="539999" y="2131311"/>
              <a:ext cx="4663372" cy="21591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419" sz="2300" dirty="0" err="1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def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n-US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&lt; 5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  <a:endParaRPr lang="es-419" sz="2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print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num+1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</p:txBody>
        </p:sp>
      </p:grpSp>
      <p:grpSp>
        <p:nvGrpSpPr>
          <p:cNvPr id="12" name="Grupo 11">
            <a:extLst>
              <a:ext uri="{FF2B5EF4-FFF2-40B4-BE49-F238E27FC236}">
                <a16:creationId xmlns:a16="http://schemas.microsoft.com/office/drawing/2014/main" id="{AD18AC16-5C82-DEFD-44C2-25BD1E2A52BB}"/>
              </a:ext>
            </a:extLst>
          </p:cNvPr>
          <p:cNvGrpSpPr/>
          <p:nvPr/>
        </p:nvGrpSpPr>
        <p:grpSpPr>
          <a:xfrm>
            <a:off x="6932924" y="1519900"/>
            <a:ext cx="4663372" cy="2370246"/>
            <a:chOff x="539999" y="1389268"/>
            <a:chExt cx="4663372" cy="2370246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ED23EA6B-E488-AE53-795C-1E7EB3219D51}"/>
                </a:ext>
              </a:extLst>
            </p:cNvPr>
            <p:cNvSpPr txBox="1"/>
            <p:nvPr/>
          </p:nvSpPr>
          <p:spPr>
            <a:xfrm>
              <a:off x="539999" y="1389268"/>
              <a:ext cx="42497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419" sz="2800" b="1" dirty="0">
                  <a:solidFill>
                    <a:srgbClr val="0021D2"/>
                  </a:solidFill>
                  <a:latin typeface="Century Gothic" panose="020B0502020202020204" pitchFamily="34" charset="0"/>
                  <a:ea typeface="Power Red and Green" panose="01000000000000000000" pitchFamily="2" charset="0"/>
                </a:rPr>
                <a:t>Bucles</a:t>
              </a:r>
            </a:p>
          </p:txBody>
        </p:sp>
        <p:sp>
          <p:nvSpPr>
            <p:cNvPr id="14" name="CuadroTexto 13">
              <a:extLst>
                <a:ext uri="{FF2B5EF4-FFF2-40B4-BE49-F238E27FC236}">
                  <a16:creationId xmlns:a16="http://schemas.microsoft.com/office/drawing/2014/main" id="{BB0D2D31-90AC-FC11-ACBB-430B35D1A200}"/>
                </a:ext>
              </a:extLst>
            </p:cNvPr>
            <p:cNvSpPr txBox="1"/>
            <p:nvPr/>
          </p:nvSpPr>
          <p:spPr>
            <a:xfrm>
              <a:off x="539999" y="2131311"/>
              <a:ext cx="4663372" cy="16282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s-419" sz="2300" dirty="0" err="1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def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contador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for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 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in </a:t>
              </a:r>
              <a:r>
                <a:rPr lang="es-419" sz="2300" dirty="0" err="1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range</a:t>
              </a:r>
              <a:r>
                <a:rPr lang="es-419" sz="2300" dirty="0">
                  <a:solidFill>
                    <a:schemeClr val="accent6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n-US" sz="2300" dirty="0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:</a:t>
              </a:r>
              <a:endParaRPr lang="es-419" sz="23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endParaRPr>
            </a:p>
            <a:p>
              <a:pPr algn="just">
                <a:lnSpc>
                  <a:spcPct val="150000"/>
                </a:lnSpc>
              </a:pPr>
              <a:r>
                <a:rPr lang="es-419" sz="2300" dirty="0">
                  <a:latin typeface="Consolas" panose="020B0609020204030204" pitchFamily="49" charset="0"/>
                  <a:ea typeface="Power Red and Green" panose="01000000000000000000" pitchFamily="2" charset="0"/>
                </a:rPr>
                <a:t>		</a:t>
              </a:r>
              <a:r>
                <a:rPr lang="es-419" sz="2300" dirty="0" err="1">
                  <a:solidFill>
                    <a:schemeClr val="tx2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print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(</a:t>
              </a:r>
              <a:r>
                <a:rPr lang="es-419" sz="2300" dirty="0" err="1">
                  <a:solidFill>
                    <a:schemeClr val="accent5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num</a:t>
              </a:r>
              <a:r>
                <a:rPr lang="es-419" sz="2300" dirty="0">
                  <a:solidFill>
                    <a:schemeClr val="accent2">
                      <a:lumMod val="75000"/>
                    </a:schemeClr>
                  </a:solidFill>
                  <a:latin typeface="Consolas" panose="020B0609020204030204" pitchFamily="49" charset="0"/>
                  <a:ea typeface="Power Red and Green" panose="01000000000000000000" pitchFamily="2" charset="0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3895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67E53-CB1C-D591-3A90-DCAD18020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55326DB-BF9A-C866-BB46-BD9C67D7B0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F294FDE-5DF0-88E7-F718-F9D62F3824C8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569ACCE7-6179-4A13-3D29-C80BF39A6D24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8930BC9-775E-4DAD-8D5F-BE74456309F8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9499D07-44D4-C18A-C3DB-B0ADB1371B88}"/>
              </a:ext>
            </a:extLst>
          </p:cNvPr>
          <p:cNvSpPr txBox="1"/>
          <p:nvPr/>
        </p:nvSpPr>
        <p:spPr>
          <a:xfrm>
            <a:off x="280883" y="2195911"/>
            <a:ext cx="12477173" cy="33570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4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n-US" sz="24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&gt;5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 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#Caso Base; momento donde debe detenerse la función</a:t>
            </a:r>
            <a:endParaRPr lang="es-419" sz="24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4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1 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#Retorno Final; lo que retorna o hace al final la función</a:t>
            </a:r>
            <a:endParaRPr lang="es-419" sz="23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4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4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print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400" dirty="0" err="1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 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</a:t>
            </a:r>
            <a:r>
              <a:rPr lang="es-419" sz="19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Retorno parcial; lo que retorna o hace durante la recursión</a:t>
            </a:r>
            <a:endParaRPr lang="es-419" sz="19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400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contador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4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num+1</a:t>
            </a:r>
            <a:r>
              <a:rPr lang="es-419" sz="24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4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endParaRPr lang="es-419" sz="24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65A21D0-02C9-6BBC-FE52-749B5068169A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Funciones recursivas</a:t>
            </a:r>
          </a:p>
        </p:txBody>
      </p:sp>
    </p:spTree>
    <p:extLst>
      <p:ext uri="{BB962C8B-B14F-4D97-AF65-F5344CB8AC3E}">
        <p14:creationId xmlns:p14="http://schemas.microsoft.com/office/powerpoint/2010/main" val="3440916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26D7-9A55-D59A-C73F-65A5D95CB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A3491E5-B6D0-5D9E-F777-E90E673A82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24E783E3-7C98-A597-E0C7-76270E51C4C6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7E33B6FE-EC69-A30E-79CF-A448BC706933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4CC6AA9-600C-302E-2BCA-242C774DAC23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895084-6F58-7B55-0FCA-32826CA87438}"/>
              </a:ext>
            </a:extLst>
          </p:cNvPr>
          <p:cNvSpPr txBox="1"/>
          <p:nvPr/>
        </p:nvSpPr>
        <p:spPr>
          <a:xfrm>
            <a:off x="539999" y="2195911"/>
            <a:ext cx="12477173" cy="3901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def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if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 </a:t>
            </a:r>
            <a:r>
              <a:rPr lang="en-US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&gt; 2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 </a:t>
            </a:r>
            <a:r>
              <a:rPr lang="es-419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#Caso Base;</a:t>
            </a:r>
          </a:p>
          <a:p>
            <a:pPr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 </a:t>
            </a:r>
            <a:r>
              <a:rPr lang="es-419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#Final; </a:t>
            </a:r>
            <a:endParaRPr lang="es-419" sz="2400" dirty="0">
              <a:solidFill>
                <a:schemeClr val="accent5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</a:t>
            </a:r>
            <a:r>
              <a:rPr lang="es-419" sz="28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else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</a:p>
          <a:p>
            <a:pPr>
              <a:lnSpc>
                <a:spcPct val="150000"/>
              </a:lnSpc>
            </a:pP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  <a:r>
              <a:rPr lang="es-419" sz="2800" dirty="0" err="1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return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 + </a:t>
            </a:r>
            <a:r>
              <a:rPr lang="es-419" sz="28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8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 + 1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8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4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#P</a:t>
            </a:r>
            <a:r>
              <a:rPr lang="es-419" sz="20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arcial;</a:t>
            </a:r>
            <a:endParaRPr lang="es-419" sz="20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8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29D5F5-D2CD-7EF2-C94B-4C7AEF7E3735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Retorno Recursivo</a:t>
            </a:r>
          </a:p>
        </p:txBody>
      </p:sp>
    </p:spTree>
    <p:extLst>
      <p:ext uri="{BB962C8B-B14F-4D97-AF65-F5344CB8AC3E}">
        <p14:creationId xmlns:p14="http://schemas.microsoft.com/office/powerpoint/2010/main" val="34780930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EAF5B-61AA-EC84-ABDD-EE9110C64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9529B9E0-00A1-C16A-6ADF-2CB5431BF7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B3CCAB7-D1AD-422B-4F90-E0A8F6EB0FAC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A1A38067-D0FF-71BD-9D6E-518E58B263A4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CD7509C-4A23-25F6-5C04-2977A7451A0C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0694800-6752-253E-54F4-8B4A94AD0FCA}"/>
              </a:ext>
            </a:extLst>
          </p:cNvPr>
          <p:cNvSpPr txBox="1"/>
          <p:nvPr/>
        </p:nvSpPr>
        <p:spPr>
          <a:xfrm>
            <a:off x="300514" y="2094200"/>
            <a:ext cx="12477173" cy="3084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0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s-419" sz="2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#return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#Parcial;</a:t>
            </a: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AB22647-B5E4-66E8-3B8C-4843DEFC4EA0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Retorno Recursivo</a:t>
            </a:r>
          </a:p>
        </p:txBody>
      </p:sp>
    </p:spTree>
    <p:extLst>
      <p:ext uri="{BB962C8B-B14F-4D97-AF65-F5344CB8AC3E}">
        <p14:creationId xmlns:p14="http://schemas.microsoft.com/office/powerpoint/2010/main" val="2936453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B27E17-EDB7-BBD9-ACA8-DAD87690E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92178EA-318F-DA32-5465-8E2C83E9F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1F72CE3D-EA30-EE0C-6EE2-76600FB9DB1E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0DCC3BA4-BE7B-E0A5-DBB0-3BFD91A32271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E0969BF-535E-B13E-B707-9FE4BA1E4ABA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FD080E5-05EB-C780-AC0C-2DF03E203A01}"/>
              </a:ext>
            </a:extLst>
          </p:cNvPr>
          <p:cNvSpPr txBox="1"/>
          <p:nvPr/>
        </p:nvSpPr>
        <p:spPr>
          <a:xfrm>
            <a:off x="300514" y="2094200"/>
            <a:ext cx="12477173" cy="2915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0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s-419" sz="2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#return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#Parcial;</a:t>
            </a: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r>
              <a:rPr lang="pt-BR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sz="2200" dirty="0">
                <a:latin typeface="Consolas" panose="020B0609020204030204" pitchFamily="49" charset="0"/>
              </a:rPr>
              <a:t>   0   +           1        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1+1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FBDAC9D-42DE-3A29-C116-C538ED2C496B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Retorno Recursivo</a:t>
            </a:r>
          </a:p>
        </p:txBody>
      </p:sp>
    </p:spTree>
    <p:extLst>
      <p:ext uri="{BB962C8B-B14F-4D97-AF65-F5344CB8AC3E}">
        <p14:creationId xmlns:p14="http://schemas.microsoft.com/office/powerpoint/2010/main" val="7442547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E04DA-D4DB-7575-2ADE-7C0322496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C2A0EF1D-6AD2-D98C-D695-3179C3F370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EDFFFECF-86CC-0966-3DBA-CA7D69573F31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4D6E7DA2-A030-DB51-3DA7-881C85503185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FEC888F-4362-350C-CE77-3A05FC396432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D52E0BC-BD41-E944-E2D5-86439C7C9D5B}"/>
              </a:ext>
            </a:extLst>
          </p:cNvPr>
          <p:cNvSpPr txBox="1"/>
          <p:nvPr/>
        </p:nvSpPr>
        <p:spPr>
          <a:xfrm>
            <a:off x="300514" y="2094200"/>
            <a:ext cx="12477173" cy="3423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0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s-419" sz="2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#return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#Parcial;</a:t>
            </a: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r>
              <a:rPr lang="pt-BR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sz="2200" dirty="0">
                <a:latin typeface="Consolas" panose="020B0609020204030204" pitchFamily="49" charset="0"/>
              </a:rPr>
              <a:t>   0   +           1        +         2          +  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2+1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pt-BR" sz="2200" dirty="0">
              <a:latin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348810-15AE-5114-0B50-4971B888950F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Retorno Recursivo</a:t>
            </a:r>
          </a:p>
        </p:txBody>
      </p:sp>
    </p:spTree>
    <p:extLst>
      <p:ext uri="{BB962C8B-B14F-4D97-AF65-F5344CB8AC3E}">
        <p14:creationId xmlns:p14="http://schemas.microsoft.com/office/powerpoint/2010/main" val="787175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AF456-B79D-8160-5804-7C7973B00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DDF96FD-70DA-C3F4-D43C-21143A434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0AD8724D-A48F-FE0E-A2E3-E13BD86298C0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817E2EC1-5148-80DD-1026-4FD71449497D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DE70FDD-D7D4-4F53-6A58-FF4939FF86AF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2D88F6-8387-45A1-7DF5-26037B27425A}"/>
              </a:ext>
            </a:extLst>
          </p:cNvPr>
          <p:cNvSpPr txBox="1"/>
          <p:nvPr/>
        </p:nvSpPr>
        <p:spPr>
          <a:xfrm>
            <a:off x="300514" y="2094200"/>
            <a:ext cx="12477173" cy="3254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0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s-419" sz="2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#return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#Parcial;</a:t>
            </a:r>
          </a:p>
          <a:p>
            <a:endParaRPr lang="pt-BR" sz="2200" dirty="0">
              <a:latin typeface="Consolas" panose="020B0609020204030204" pitchFamily="49" charset="0"/>
            </a:endParaRPr>
          </a:p>
          <a:p>
            <a:r>
              <a:rPr lang="pt-BR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sz="2200" dirty="0">
                <a:latin typeface="Consolas" panose="020B0609020204030204" pitchFamily="49" charset="0"/>
              </a:rPr>
              <a:t>   0   +           1        +         2          +          3</a:t>
            </a: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442C0B-8042-161F-55D4-175E178783F4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Retorno Recursivo</a:t>
            </a:r>
          </a:p>
        </p:txBody>
      </p:sp>
    </p:spTree>
    <p:extLst>
      <p:ext uri="{BB962C8B-B14F-4D97-AF65-F5344CB8AC3E}">
        <p14:creationId xmlns:p14="http://schemas.microsoft.com/office/powerpoint/2010/main" val="5774980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0BE2A-2A2A-CFA4-8431-E0581C81A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CF17E60-287B-E221-EE90-A7D226EA9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879"/>
            <a:ext cx="1080000" cy="1080000"/>
          </a:xfrm>
          <a:prstGeom prst="rect">
            <a:avLst/>
          </a:prstGeom>
        </p:spPr>
      </p:pic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FA6654DA-47CA-D6D5-547C-33F0E8C0B8AD}"/>
              </a:ext>
            </a:extLst>
          </p:cNvPr>
          <p:cNvSpPr/>
          <p:nvPr/>
        </p:nvSpPr>
        <p:spPr>
          <a:xfrm rot="21427041">
            <a:off x="-6235797" y="-3711840"/>
            <a:ext cx="28541536" cy="5541913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443B877E-594F-2D39-B6E3-3A27209DB7AB}"/>
              </a:ext>
            </a:extLst>
          </p:cNvPr>
          <p:cNvSpPr/>
          <p:nvPr/>
        </p:nvSpPr>
        <p:spPr>
          <a:xfrm rot="164205" flipV="1">
            <a:off x="-7337844" y="5326719"/>
            <a:ext cx="28541536" cy="5606426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B5FE405-3B33-140B-6F22-AA66CC211760}"/>
              </a:ext>
            </a:extLst>
          </p:cNvPr>
          <p:cNvSpPr txBox="1"/>
          <p:nvPr/>
        </p:nvSpPr>
        <p:spPr>
          <a:xfrm>
            <a:off x="2803271" y="3520473"/>
            <a:ext cx="658545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dirty="0">
                <a:solidFill>
                  <a:schemeClr val="bg1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Primeras Líneas en Python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AFCF61-0346-01CD-2083-8A386B120542}"/>
              </a:ext>
            </a:extLst>
          </p:cNvPr>
          <p:cNvSpPr txBox="1"/>
          <p:nvPr/>
        </p:nvSpPr>
        <p:spPr>
          <a:xfrm>
            <a:off x="300514" y="2094200"/>
            <a:ext cx="12477173" cy="4439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0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s-419" sz="2200" dirty="0"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#return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 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valor+1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r>
              <a:rPr lang="es-419" sz="2200" dirty="0">
                <a:latin typeface="Consolas" panose="020B0609020204030204" pitchFamily="49" charset="0"/>
                <a:ea typeface="Power Red and Green" panose="01000000000000000000" pitchFamily="2" charset="0"/>
              </a:rPr>
              <a:t>: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 </a:t>
            </a:r>
            <a:r>
              <a:rPr lang="es-419" sz="22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#Parcial;</a:t>
            </a: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6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r>
              <a:rPr lang="pt-BR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sz="2200" dirty="0">
                <a:latin typeface="Consolas" panose="020B0609020204030204" pitchFamily="49" charset="0"/>
              </a:rPr>
              <a:t>   0   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0+1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</a:p>
          <a:p>
            <a:r>
              <a:rPr lang="pt-BR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sz="2200" dirty="0">
                <a:latin typeface="Consolas" panose="020B0609020204030204" pitchFamily="49" charset="0"/>
              </a:rPr>
              <a:t>   0   +           1        + 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1+1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pt-BR" sz="2200" dirty="0">
              <a:latin typeface="Consolas" panose="020B0609020204030204" pitchFamily="49" charset="0"/>
            </a:endParaRPr>
          </a:p>
          <a:p>
            <a:r>
              <a:rPr lang="pt-BR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sz="2200" dirty="0">
                <a:latin typeface="Consolas" panose="020B0609020204030204" pitchFamily="49" charset="0"/>
              </a:rPr>
              <a:t>   0   +           1        +         2          +  </a:t>
            </a:r>
            <a:r>
              <a:rPr lang="es-419" sz="2200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sumaRecursiva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(</a:t>
            </a:r>
            <a:r>
              <a:rPr lang="es-419" sz="2200" dirty="0"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2+1</a:t>
            </a: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)</a:t>
            </a:r>
            <a:endParaRPr lang="pt-BR" sz="2200" dirty="0">
              <a:latin typeface="Consolas" panose="020B0609020204030204" pitchFamily="49" charset="0"/>
            </a:endParaRPr>
          </a:p>
          <a:p>
            <a:r>
              <a:rPr lang="pt-BR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</a:rPr>
              <a:t>return</a:t>
            </a:r>
            <a:r>
              <a:rPr lang="pt-BR" sz="2200" dirty="0">
                <a:latin typeface="Consolas" panose="020B0609020204030204" pitchFamily="49" charset="0"/>
              </a:rPr>
              <a:t>   0   +           1        +         2          +          3</a:t>
            </a:r>
          </a:p>
          <a:p>
            <a:pPr>
              <a:lnSpc>
                <a:spcPct val="150000"/>
              </a:lnSpc>
            </a:pPr>
            <a:endParaRPr lang="es-419" sz="2200" dirty="0">
              <a:solidFill>
                <a:schemeClr val="accent2">
                  <a:lumMod val="75000"/>
                </a:schemeClr>
              </a:solidFill>
              <a:latin typeface="Consolas" panose="020B0609020204030204" pitchFamily="49" charset="0"/>
              <a:ea typeface="Power Red and Green" panose="01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s-419" sz="2200" dirty="0">
                <a:solidFill>
                  <a:schemeClr val="accent2">
                    <a:lumMod val="75000"/>
                  </a:schemeClr>
                </a:solidFill>
                <a:latin typeface="Consolas" panose="020B0609020204030204" pitchFamily="49" charset="0"/>
                <a:ea typeface="Power Red and Green" panose="01000000000000000000" pitchFamily="2" charset="0"/>
              </a:rPr>
              <a:t>		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3AF0DB-8DBD-E502-830E-83099B562F08}"/>
              </a:ext>
            </a:extLst>
          </p:cNvPr>
          <p:cNvSpPr txBox="1"/>
          <p:nvPr/>
        </p:nvSpPr>
        <p:spPr>
          <a:xfrm>
            <a:off x="539999" y="1389268"/>
            <a:ext cx="804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2800" b="1" dirty="0">
                <a:solidFill>
                  <a:srgbClr val="0021D2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Retorno Recursivo</a:t>
            </a:r>
          </a:p>
        </p:txBody>
      </p:sp>
    </p:spTree>
    <p:extLst>
      <p:ext uri="{BB962C8B-B14F-4D97-AF65-F5344CB8AC3E}">
        <p14:creationId xmlns:p14="http://schemas.microsoft.com/office/powerpoint/2010/main" val="22382787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17DD5A42-5214-5F2A-A660-F291B0110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5999" y="1077345"/>
            <a:ext cx="2160000" cy="2160000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608AA114-8043-0A39-0188-988769FA549A}"/>
              </a:ext>
            </a:extLst>
          </p:cNvPr>
          <p:cNvSpPr txBox="1"/>
          <p:nvPr/>
        </p:nvSpPr>
        <p:spPr>
          <a:xfrm>
            <a:off x="4053337" y="3716428"/>
            <a:ext cx="45881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sz="4000" b="1" dirty="0">
                <a:solidFill>
                  <a:srgbClr val="1624D4"/>
                </a:solidFill>
                <a:latin typeface="Century Gothic" panose="020B0502020202020204" pitchFamily="34" charset="0"/>
                <a:ea typeface="Power Red and Green" panose="01000000000000000000" pitchFamily="2" charset="0"/>
              </a:rPr>
              <a:t>¡Gracias por Leer!</a:t>
            </a:r>
          </a:p>
        </p:txBody>
      </p:sp>
      <p:sp>
        <p:nvSpPr>
          <p:cNvPr id="2" name="Forma libre: forma 1">
            <a:extLst>
              <a:ext uri="{FF2B5EF4-FFF2-40B4-BE49-F238E27FC236}">
                <a16:creationId xmlns:a16="http://schemas.microsoft.com/office/drawing/2014/main" id="{91FD8109-3D04-A8B9-B60D-9B7E1EAFE9A7}"/>
              </a:ext>
            </a:extLst>
          </p:cNvPr>
          <p:cNvSpPr/>
          <p:nvPr/>
        </p:nvSpPr>
        <p:spPr>
          <a:xfrm rot="21427041">
            <a:off x="-6054369" y="-3806694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Forma libre: forma 3">
            <a:extLst>
              <a:ext uri="{FF2B5EF4-FFF2-40B4-BE49-F238E27FC236}">
                <a16:creationId xmlns:a16="http://schemas.microsoft.com/office/drawing/2014/main" id="{6EA9272B-E54B-024D-8F24-BEA167D0846E}"/>
              </a:ext>
            </a:extLst>
          </p:cNvPr>
          <p:cNvSpPr/>
          <p:nvPr/>
        </p:nvSpPr>
        <p:spPr>
          <a:xfrm rot="164205" flipV="1">
            <a:off x="-8174769" y="4871570"/>
            <a:ext cx="28541536" cy="5414300"/>
          </a:xfrm>
          <a:custGeom>
            <a:avLst/>
            <a:gdLst>
              <a:gd name="connsiteX0" fmla="*/ 3945065 w 47268509"/>
              <a:gd name="connsiteY0" fmla="*/ 5079621 h 7640445"/>
              <a:gd name="connsiteX1" fmla="*/ 7175945 w 47268509"/>
              <a:gd name="connsiteY1" fmla="*/ 6695061 h 7640445"/>
              <a:gd name="connsiteX2" fmla="*/ 11595545 w 47268509"/>
              <a:gd name="connsiteY2" fmla="*/ 5414901 h 7640445"/>
              <a:gd name="connsiteX3" fmla="*/ 15801785 w 47268509"/>
              <a:gd name="connsiteY3" fmla="*/ 6542661 h 7640445"/>
              <a:gd name="connsiteX4" fmla="*/ 20129945 w 47268509"/>
              <a:gd name="connsiteY4" fmla="*/ 5658741 h 7640445"/>
              <a:gd name="connsiteX5" fmla="*/ 23177945 w 47268509"/>
              <a:gd name="connsiteY5" fmla="*/ 6542661 h 7640445"/>
              <a:gd name="connsiteX6" fmla="*/ 26591705 w 47268509"/>
              <a:gd name="connsiteY6" fmla="*/ 5628261 h 7640445"/>
              <a:gd name="connsiteX7" fmla="*/ 31072265 w 47268509"/>
              <a:gd name="connsiteY7" fmla="*/ 6938901 h 7640445"/>
              <a:gd name="connsiteX8" fmla="*/ 35126105 w 47268509"/>
              <a:gd name="connsiteY8" fmla="*/ 5963541 h 7640445"/>
              <a:gd name="connsiteX9" fmla="*/ 39423785 w 47268509"/>
              <a:gd name="connsiteY9" fmla="*/ 7639941 h 7640445"/>
              <a:gd name="connsiteX10" fmla="*/ 43904345 w 47268509"/>
              <a:gd name="connsiteY10" fmla="*/ 6085461 h 7640445"/>
              <a:gd name="connsiteX11" fmla="*/ 44087225 w 47268509"/>
              <a:gd name="connsiteY11" fmla="*/ 1757301 h 7640445"/>
              <a:gd name="connsiteX12" fmla="*/ 2695385 w 47268509"/>
              <a:gd name="connsiteY12" fmla="*/ 141861 h 7640445"/>
              <a:gd name="connsiteX13" fmla="*/ 4036505 w 47268509"/>
              <a:gd name="connsiteY13" fmla="*/ 5079621 h 7640445"/>
              <a:gd name="connsiteX14" fmla="*/ 4006025 w 47268509"/>
              <a:gd name="connsiteY14" fmla="*/ 5079621 h 7640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7268509" h="7640445">
                <a:moveTo>
                  <a:pt x="3945065" y="5079621"/>
                </a:moveTo>
                <a:cubicBezTo>
                  <a:pt x="4922965" y="5859401"/>
                  <a:pt x="5900865" y="6639181"/>
                  <a:pt x="7175945" y="6695061"/>
                </a:cubicBezTo>
                <a:cubicBezTo>
                  <a:pt x="8451025" y="6750941"/>
                  <a:pt x="10157905" y="5440301"/>
                  <a:pt x="11595545" y="5414901"/>
                </a:cubicBezTo>
                <a:cubicBezTo>
                  <a:pt x="13033185" y="5389501"/>
                  <a:pt x="14379385" y="6502021"/>
                  <a:pt x="15801785" y="6542661"/>
                </a:cubicBezTo>
                <a:cubicBezTo>
                  <a:pt x="17224185" y="6583301"/>
                  <a:pt x="18900585" y="5658741"/>
                  <a:pt x="20129945" y="5658741"/>
                </a:cubicBezTo>
                <a:cubicBezTo>
                  <a:pt x="21359305" y="5658741"/>
                  <a:pt x="22100985" y="6547741"/>
                  <a:pt x="23177945" y="6542661"/>
                </a:cubicBezTo>
                <a:cubicBezTo>
                  <a:pt x="24254905" y="6537581"/>
                  <a:pt x="25275985" y="5562221"/>
                  <a:pt x="26591705" y="5628261"/>
                </a:cubicBezTo>
                <a:cubicBezTo>
                  <a:pt x="27907425" y="5694301"/>
                  <a:pt x="29649865" y="6883021"/>
                  <a:pt x="31072265" y="6938901"/>
                </a:cubicBezTo>
                <a:cubicBezTo>
                  <a:pt x="32494665" y="6994781"/>
                  <a:pt x="33734185" y="5846701"/>
                  <a:pt x="35126105" y="5963541"/>
                </a:cubicBezTo>
                <a:cubicBezTo>
                  <a:pt x="36518025" y="6080381"/>
                  <a:pt x="37960745" y="7619621"/>
                  <a:pt x="39423785" y="7639941"/>
                </a:cubicBezTo>
                <a:cubicBezTo>
                  <a:pt x="40886825" y="7660261"/>
                  <a:pt x="43127105" y="7065901"/>
                  <a:pt x="43904345" y="6085461"/>
                </a:cubicBezTo>
                <a:cubicBezTo>
                  <a:pt x="44681585" y="5105021"/>
                  <a:pt x="50955385" y="2747901"/>
                  <a:pt x="44087225" y="1757301"/>
                </a:cubicBezTo>
                <a:cubicBezTo>
                  <a:pt x="37219065" y="766701"/>
                  <a:pt x="9370505" y="-411859"/>
                  <a:pt x="2695385" y="141861"/>
                </a:cubicBezTo>
                <a:cubicBezTo>
                  <a:pt x="-3979735" y="695581"/>
                  <a:pt x="3818065" y="4256661"/>
                  <a:pt x="4036505" y="5079621"/>
                </a:cubicBezTo>
                <a:cubicBezTo>
                  <a:pt x="4254945" y="5902581"/>
                  <a:pt x="4130485" y="5491101"/>
                  <a:pt x="4006025" y="5079621"/>
                </a:cubicBezTo>
              </a:path>
            </a:pathLst>
          </a:custGeom>
          <a:solidFill>
            <a:srgbClr val="0021D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0340762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2825</TotalTime>
  <Words>784</Words>
  <Application>Microsoft Office PowerPoint</Application>
  <PresentationFormat>Panorámica</PresentationFormat>
  <Paragraphs>151</Paragraphs>
  <Slides>22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Century Gothic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Geyser Velásquez</dc:creator>
  <cp:lastModifiedBy>Geyser Martín  Velásquez Cedeño</cp:lastModifiedBy>
  <cp:revision>28</cp:revision>
  <dcterms:created xsi:type="dcterms:W3CDTF">2024-06-06T10:15:26Z</dcterms:created>
  <dcterms:modified xsi:type="dcterms:W3CDTF">2026-02-07T17:15:29Z</dcterms:modified>
</cp:coreProperties>
</file>